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189" r:id="rId1"/>
  </p:sldMasterIdLst>
  <p:sldIdLst>
    <p:sldId id="256" r:id="rId2"/>
    <p:sldId id="259" r:id="rId3"/>
    <p:sldId id="261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4653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1211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3766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0673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26556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2731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0258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8127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692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969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57760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148033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11084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50919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2833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06142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164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750F0EE5-0DCA-4955-91ED-88EFE3E1933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30801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190" r:id="rId1"/>
    <p:sldLayoutId id="2147484191" r:id="rId2"/>
    <p:sldLayoutId id="2147484192" r:id="rId3"/>
    <p:sldLayoutId id="2147484193" r:id="rId4"/>
    <p:sldLayoutId id="2147484194" r:id="rId5"/>
    <p:sldLayoutId id="2147484195" r:id="rId6"/>
    <p:sldLayoutId id="2147484196" r:id="rId7"/>
    <p:sldLayoutId id="2147484197" r:id="rId8"/>
    <p:sldLayoutId id="2147484198" r:id="rId9"/>
    <p:sldLayoutId id="2147484199" r:id="rId10"/>
    <p:sldLayoutId id="2147484200" r:id="rId11"/>
    <p:sldLayoutId id="2147484201" r:id="rId12"/>
    <p:sldLayoutId id="2147484202" r:id="rId13"/>
    <p:sldLayoutId id="2147484203" r:id="rId14"/>
    <p:sldLayoutId id="2147484204" r:id="rId15"/>
    <p:sldLayoutId id="2147484205" r:id="rId16"/>
    <p:sldLayoutId id="2147484206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4601F4-A089-D302-6724-0E1DFF0A1297}"/>
              </a:ext>
            </a:extLst>
          </p:cNvPr>
          <p:cNvSpPr txBox="1"/>
          <p:nvPr/>
        </p:nvSpPr>
        <p:spPr>
          <a:xfrm>
            <a:off x="684212" y="485244"/>
            <a:ext cx="8534400" cy="1507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de-DE" sz="3600" cap="all" noProof="0" dirty="0">
                <a:ln w="3175" cmpd="sng">
                  <a:noFill/>
                </a:ln>
                <a:latin typeface="+mj-lt"/>
                <a:ea typeface="+mj-ea"/>
                <a:cs typeface="+mj-cs"/>
              </a:rPr>
              <a:t>Bus-Reservierungs-System für Vereinsfahrten (Fasnet)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7E883DA-DF30-CAFE-0D06-8C7BE3C0E672}"/>
              </a:ext>
            </a:extLst>
          </p:cNvPr>
          <p:cNvSpPr txBox="1"/>
          <p:nvPr/>
        </p:nvSpPr>
        <p:spPr>
          <a:xfrm>
            <a:off x="684212" y="2068511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fontAlgn="base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de-DE" noProof="0" dirty="0"/>
              <a:t> Sabine Pfeifer</a:t>
            </a:r>
          </a:p>
          <a:p>
            <a:pPr fontAlgn="base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de-DE" noProof="0" dirty="0"/>
              <a:t> Maximilian Mayer</a:t>
            </a:r>
          </a:p>
          <a:p>
            <a:pPr fontAlgn="base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de-DE" noProof="0" dirty="0"/>
              <a:t> Daniel Hartl</a:t>
            </a:r>
          </a:p>
          <a:p>
            <a:pPr fontAlgn="base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endParaRPr lang="de-DE" noProof="0" dirty="0"/>
          </a:p>
          <a:p>
            <a:pPr fontAlgn="base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de-DE" noProof="0" dirty="0"/>
              <a:t> 23456 WPM </a:t>
            </a:r>
            <a:r>
              <a:rPr lang="de-DE" noProof="0" dirty="0" err="1"/>
              <a:t>Advanced</a:t>
            </a:r>
            <a:r>
              <a:rPr lang="de-DE" noProof="0" dirty="0"/>
              <a:t> </a:t>
            </a:r>
            <a:r>
              <a:rPr lang="de-DE" noProof="0" dirty="0" err="1"/>
              <a:t>Programming</a:t>
            </a:r>
            <a:r>
              <a:rPr lang="de-DE" noProof="0" dirty="0"/>
              <a:t>​</a:t>
            </a:r>
          </a:p>
          <a:p>
            <a:pPr fontAlgn="base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de-DE" noProof="0" dirty="0"/>
              <a:t> Prof. Dr. Rembold</a:t>
            </a:r>
          </a:p>
        </p:txBody>
      </p:sp>
    </p:spTree>
    <p:extLst>
      <p:ext uri="{BB962C8B-B14F-4D97-AF65-F5344CB8AC3E}">
        <p14:creationId xmlns:p14="http://schemas.microsoft.com/office/powerpoint/2010/main" val="442366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B1121BE-D132-590E-BDAF-E3B1A44078DF}"/>
              </a:ext>
            </a:extLst>
          </p:cNvPr>
          <p:cNvSpPr txBox="1"/>
          <p:nvPr/>
        </p:nvSpPr>
        <p:spPr>
          <a:xfrm>
            <a:off x="828675" y="708929"/>
            <a:ext cx="5029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noProof="0" dirty="0"/>
              <a:t>Motivation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E4BAC73-EB86-6455-824C-2B4F359F27E0}"/>
              </a:ext>
            </a:extLst>
          </p:cNvPr>
          <p:cNvSpPr txBox="1"/>
          <p:nvPr/>
        </p:nvSpPr>
        <p:spPr>
          <a:xfrm>
            <a:off x="828675" y="1507272"/>
            <a:ext cx="104965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noProof="0" dirty="0"/>
              <a:t>Unser Projekt beschäftigt sich mit der Entwicklung eines </a:t>
            </a:r>
            <a:r>
              <a:rPr lang="de-DE" sz="1400" b="1" noProof="0" dirty="0"/>
              <a:t>Busreservierungssystems für Vereinsfahrten</a:t>
            </a:r>
            <a:r>
              <a:rPr lang="de-DE" sz="1400" noProof="0" dirty="0"/>
              <a:t>. </a:t>
            </a:r>
            <a:br>
              <a:rPr lang="de-DE" sz="1400" noProof="0" dirty="0"/>
            </a:br>
            <a:r>
              <a:rPr lang="de-DE" sz="1400" noProof="0" dirty="0"/>
              <a:t>Ziel ist es, den Mitgliedern eine einfache Möglichkeit zu geben, Fahrten auszuwählen und Sitzplätze zu reservieren. </a:t>
            </a:r>
            <a:br>
              <a:rPr lang="de-DE" sz="1400" noProof="0" dirty="0"/>
            </a:br>
            <a:endParaRPr lang="de-DE" sz="1400" noProof="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1B9CC9C-F050-A056-6C23-5B9566740F62}"/>
              </a:ext>
            </a:extLst>
          </p:cNvPr>
          <p:cNvSpPr txBox="1"/>
          <p:nvPr/>
        </p:nvSpPr>
        <p:spPr>
          <a:xfrm>
            <a:off x="828675" y="3044279"/>
            <a:ext cx="5029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noProof="0" dirty="0"/>
              <a:t>Anforderungen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E92D9C4-CABB-9944-DBCE-71E99B99965D}"/>
              </a:ext>
            </a:extLst>
          </p:cNvPr>
          <p:cNvSpPr txBox="1"/>
          <p:nvPr/>
        </p:nvSpPr>
        <p:spPr>
          <a:xfrm>
            <a:off x="828675" y="4135011"/>
            <a:ext cx="1049655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400" noProof="0" dirty="0"/>
              <a:t>Anmeldung/Registrieren eines Users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400" noProof="0" dirty="0"/>
              <a:t>Anmeldung als Admin, Admin kann die Ausflüge einstellen, sowie eine automatische Anfrage (Mail) an diverse Bus-Unternehmen versenden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400" noProof="0" dirty="0"/>
              <a:t>Sitzplatz reservieren/stornieren</a:t>
            </a:r>
            <a:br>
              <a:rPr lang="de-DE" sz="1400" noProof="0" dirty="0"/>
            </a:br>
            <a:endParaRPr lang="de-DE" sz="1400" noProof="0" dirty="0"/>
          </a:p>
        </p:txBody>
      </p:sp>
    </p:spTree>
    <p:extLst>
      <p:ext uri="{BB962C8B-B14F-4D97-AF65-F5344CB8AC3E}">
        <p14:creationId xmlns:p14="http://schemas.microsoft.com/office/powerpoint/2010/main" val="28258269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512F9CB-A1A0-4043-A103-F6A4B94B6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DBE6588-EE16-4389-857C-86A156D49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7FD48D2-B0A7-413D-B947-AA55AC129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BE668D0-D906-4EEE-B32F-8C028624B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1DE67A3-B8F6-4CFD-A8E0-D15200F23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91E317B-75E3-4171-A07A-B263C1D6D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8807454-07FC-D177-7B5B-9AD59AD2A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2710" y="628617"/>
            <a:ext cx="3971902" cy="302898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sz="4800" noProof="0" dirty="0">
                <a:solidFill>
                  <a:srgbClr val="FFFFFF"/>
                </a:solidFill>
              </a:rPr>
              <a:t>User-Storys</a:t>
            </a:r>
          </a:p>
        </p:txBody>
      </p:sp>
      <p:sp useBgFill="1">
        <p:nvSpPr>
          <p:cNvPr id="22" name="Snip Diagonal Corner Rectangle 6">
            <a:extLst>
              <a:ext uri="{FF2B5EF4-FFF2-40B4-BE49-F238E27FC236}">
                <a16:creationId xmlns:a16="http://schemas.microsoft.com/office/drawing/2014/main" id="{4A9B19C2-B29A-4924-9E7E-6FBF17F585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4000" y="620722"/>
            <a:ext cx="6418778" cy="5286838"/>
          </a:xfrm>
          <a:prstGeom prst="snip2DiagRect">
            <a:avLst>
              <a:gd name="adj1" fmla="val 10973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4C85634-D5F5-4047-8F35-F4B1F50AB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224BF71-948F-411D-AA79-8B23157151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34B4526-E715-4199-A597-CD757CB4A0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5E295A6-48D5-4F9E-A32C-5D87EAA5E7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10BF5B3-9260-4D36-BB24-07BC414B9D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AE0C886-FA2E-4E7C-BC00-8397AAEC86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C1E21109-962E-A6A1-2BBC-ACF5EABD81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998576"/>
              </p:ext>
            </p:extLst>
          </p:nvPr>
        </p:nvGraphicFramePr>
        <p:xfrm>
          <a:off x="1101217" y="1631288"/>
          <a:ext cx="5450438" cy="354245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25763">
                  <a:extLst>
                    <a:ext uri="{9D8B030D-6E8A-4147-A177-3AD203B41FA5}">
                      <a16:colId xmlns:a16="http://schemas.microsoft.com/office/drawing/2014/main" val="4173582292"/>
                    </a:ext>
                  </a:extLst>
                </a:gridCol>
                <a:gridCol w="2012238">
                  <a:extLst>
                    <a:ext uri="{9D8B030D-6E8A-4147-A177-3AD203B41FA5}">
                      <a16:colId xmlns:a16="http://schemas.microsoft.com/office/drawing/2014/main" val="1723992326"/>
                    </a:ext>
                  </a:extLst>
                </a:gridCol>
                <a:gridCol w="2912437">
                  <a:extLst>
                    <a:ext uri="{9D8B030D-6E8A-4147-A177-3AD203B41FA5}">
                      <a16:colId xmlns:a16="http://schemas.microsoft.com/office/drawing/2014/main" val="1347948892"/>
                    </a:ext>
                  </a:extLst>
                </a:gridCol>
              </a:tblGrid>
              <a:tr h="256851">
                <a:tc>
                  <a:txBody>
                    <a:bodyPr/>
                    <a:lstStyle/>
                    <a:p>
                      <a:endParaRPr lang="de-DE" sz="1100" cap="none" spc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36673" marT="18337" marB="18337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100" cap="none" spc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36673" marT="18337" marB="18337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100" cap="none" spc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36673" marT="18337" marB="18337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380483"/>
                  </a:ext>
                </a:extLst>
              </a:tr>
              <a:tr h="234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b="1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Rolle</a:t>
                      </a:r>
                      <a:endParaRPr lang="de-DE" sz="1100" cap="none" spc="0" noProof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b="1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Ziel</a:t>
                      </a:r>
                      <a:endParaRPr lang="de-DE" sz="1100" cap="none" spc="0" noProof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b="1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Nutzen</a:t>
                      </a:r>
                      <a:endParaRPr lang="de-DE" sz="1100" cap="none" spc="0" noProof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1604953"/>
                  </a:ext>
                </a:extLst>
              </a:tr>
              <a:tr h="3999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Admin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Busfahrten hinzufügen/planen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Mitglieder können sich für Fahrten anmelden und Informationen zum Ausflug erhalten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2845588"/>
                  </a:ext>
                </a:extLst>
              </a:tr>
              <a:tr h="234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Admin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Übersicht anzeigen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Informationen über die Busfahrt erhalten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082643"/>
                  </a:ext>
                </a:extLst>
              </a:tr>
              <a:tr h="3999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Admin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Busfahrten entfernen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Alte oder abgesagte Fahrten können gelöscht werden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1644500"/>
                  </a:ext>
                </a:extLst>
              </a:tr>
              <a:tr h="234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Admin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Benutzer löschen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Kann registrierte Benutzer löschen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915075"/>
                  </a:ext>
                </a:extLst>
              </a:tr>
              <a:tr h="3999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Admin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Automatische Mail an Busunternehmen senden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E-Mail-Anfrage an Busunternehmen, um geplante Ausflüge anzufragen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0045716"/>
                  </a:ext>
                </a:extLst>
              </a:tr>
              <a:tr h="234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User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Für Busfahrt anmelden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Es wird ein Platz im Bus reserviert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4023403"/>
                  </a:ext>
                </a:extLst>
              </a:tr>
              <a:tr h="234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User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Für Busfahrt abmelden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Es wird ein Platz freigegeben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759051"/>
                  </a:ext>
                </a:extLst>
              </a:tr>
              <a:tr h="3999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User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Benutzeraccount erstellen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Kann sich an Seite anmelden und Ausflug buchen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160320"/>
                  </a:ext>
                </a:extLst>
              </a:tr>
              <a:tr h="234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User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Übersicht Busfahrten anzeigen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Informationen über die Busfahrt erhalten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4802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58682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E6AB66CC-BE35-B592-7320-6DE85B60061A}"/>
              </a:ext>
            </a:extLst>
          </p:cNvPr>
          <p:cNvSpPr txBox="1"/>
          <p:nvPr/>
        </p:nvSpPr>
        <p:spPr>
          <a:xfrm>
            <a:off x="1751012" y="3883741"/>
            <a:ext cx="8676222" cy="133595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de-DE" sz="4800" cap="all" noProof="0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rPr>
              <a:t>Tech-Stack</a:t>
            </a:r>
          </a:p>
        </p:txBody>
      </p:sp>
      <p:pic>
        <p:nvPicPr>
          <p:cNvPr id="10" name="Grafik 9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93D90231-9667-EF7D-697F-0403354F78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-2" b="21705"/>
          <a:stretch>
            <a:fillRect/>
          </a:stretch>
        </p:blipFill>
        <p:spPr>
          <a:xfrm>
            <a:off x="2711334" y="824487"/>
            <a:ext cx="6769332" cy="2983054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1236540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FD48FB1-66D8-4676-B0AA-C139A1DB7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033F5AE-6728-4F19-8DED-658E674B3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2C7D74A-18BA-4709-A808-44E8815C4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5164A3F-1561-4039-8185-AB0EEB713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A35DB53-42BE-460E-9CA1-1294C98463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7A675F33-98AF-4B83-A3BB-0780A23145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12192000" cy="6858000"/>
          </a:xfrm>
          <a:prstGeom prst="rect">
            <a:avLst/>
          </a:prstGeom>
          <a:gradFill>
            <a:gsLst>
              <a:gs pos="10000">
                <a:schemeClr val="bg1">
                  <a:tint val="97000"/>
                  <a:hueMod val="92000"/>
                  <a:satMod val="169000"/>
                  <a:lumMod val="164000"/>
                </a:schemeClr>
              </a:gs>
              <a:gs pos="100000">
                <a:schemeClr val="bg1">
                  <a:shade val="96000"/>
                  <a:satMod val="120000"/>
                  <a:lumMod val="90000"/>
                </a:schemeClr>
              </a:gs>
            </a:gsLst>
            <a:lin ang="612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86254AC-0B2A-2CFE-0941-F0B6BBBFF369}"/>
              </a:ext>
            </a:extLst>
          </p:cNvPr>
          <p:cNvSpPr txBox="1"/>
          <p:nvPr/>
        </p:nvSpPr>
        <p:spPr>
          <a:xfrm>
            <a:off x="684212" y="685799"/>
            <a:ext cx="8001000" cy="29718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de-DE" sz="4800" cap="all" noProof="0" dirty="0" err="1">
                <a:ln w="3175" cmpd="sng">
                  <a:noFill/>
                </a:ln>
                <a:latin typeface="+mj-lt"/>
                <a:ea typeface="+mj-ea"/>
                <a:cs typeface="+mj-cs"/>
              </a:rPr>
              <a:t>Lessons</a:t>
            </a:r>
            <a:r>
              <a:rPr lang="de-DE" sz="4800" cap="all" noProof="0" dirty="0">
                <a:ln w="3175" cmpd="sng">
                  <a:noFill/>
                </a:ln>
                <a:latin typeface="+mj-lt"/>
                <a:ea typeface="+mj-ea"/>
                <a:cs typeface="+mj-cs"/>
              </a:rPr>
              <a:t> </a:t>
            </a:r>
            <a:r>
              <a:rPr lang="de-DE" sz="4800" cap="all" noProof="0" dirty="0" err="1">
                <a:ln w="3175" cmpd="sng">
                  <a:noFill/>
                </a:ln>
                <a:latin typeface="+mj-lt"/>
                <a:ea typeface="+mj-ea"/>
                <a:cs typeface="+mj-cs"/>
              </a:rPr>
              <a:t>Learned</a:t>
            </a:r>
            <a:endParaRPr lang="de-DE" sz="4800" cap="all" noProof="0" dirty="0">
              <a:ln w="3175" cmpd="sng">
                <a:noFill/>
              </a:ln>
              <a:latin typeface="+mj-lt"/>
              <a:ea typeface="+mj-ea"/>
              <a:cs typeface="+mj-cs"/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B92C183A-6328-891E-A98F-8EAB44A40FBC}"/>
              </a:ext>
            </a:extLst>
          </p:cNvPr>
          <p:cNvSpPr txBox="1"/>
          <p:nvPr/>
        </p:nvSpPr>
        <p:spPr>
          <a:xfrm>
            <a:off x="684212" y="3843867"/>
            <a:ext cx="6400800" cy="194733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endParaRPr lang="de-DE" sz="2100" b="1" noProof="0" dirty="0"/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endParaRPr lang="de-DE" sz="2100" b="1" dirty="0"/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r>
              <a:rPr lang="de-DE" sz="2100" b="1" noProof="0" dirty="0"/>
              <a:t>Zukunftsfähig?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r>
              <a:rPr lang="de-DE" sz="2100" noProof="0" dirty="0"/>
              <a:t>In den ersten Tests hatte sich gezeigt, dass die Anwendung potential für den Realbetrieb hat. 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A75029C-64B9-41D0-9540-75846D4B0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8170" y="9144"/>
            <a:ext cx="6080656" cy="6163733"/>
            <a:chOff x="6108170" y="8467"/>
            <a:chExt cx="6080656" cy="6163733"/>
          </a:xfrm>
        </p:grpSpPr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F6B07A-A0CD-4593-B501-E1D50968C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8228012" y="8467"/>
              <a:ext cx="381000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E1C2E537-D046-43E9-B78A-8D770E4C0F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6108170" y="91545"/>
              <a:ext cx="6080655" cy="60806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1ED42C-32AB-4AA5-B9D5-2ADF552B0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235825" y="228600"/>
              <a:ext cx="4953000" cy="4953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62B69715-83DD-4F53-8564-D95D5D238D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335837" y="32278"/>
              <a:ext cx="4852989" cy="485298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5BC2EBE-B4C1-42F9-9914-0F430C0600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845426" y="609601"/>
              <a:ext cx="4343399" cy="434339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D466E5A0-3F31-A5B2-6F9C-D2DB0DC895BB}"/>
              </a:ext>
            </a:extLst>
          </p:cNvPr>
          <p:cNvSpPr txBox="1"/>
          <p:nvPr/>
        </p:nvSpPr>
        <p:spPr>
          <a:xfrm>
            <a:off x="5215221" y="797442"/>
            <a:ext cx="5133408" cy="9144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endParaRPr lang="de-DE" sz="1200" b="1" noProof="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B1830E-E1E5-4F06-835E-91382632F356}"/>
              </a:ext>
            </a:extLst>
          </p:cNvPr>
          <p:cNvSpPr txBox="1"/>
          <p:nvPr/>
        </p:nvSpPr>
        <p:spPr>
          <a:xfrm>
            <a:off x="4333875" y="2047875"/>
            <a:ext cx="16478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br>
              <a:rPr lang="de-DE" sz="1400" noProof="0" dirty="0"/>
            </a:br>
            <a:endParaRPr lang="de-DE" sz="1400" noProof="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8E77ED0-F9D9-430B-BCBD-74A6F64FAF27}"/>
              </a:ext>
            </a:extLst>
          </p:cNvPr>
          <p:cNvSpPr txBox="1"/>
          <p:nvPr/>
        </p:nvSpPr>
        <p:spPr>
          <a:xfrm>
            <a:off x="684212" y="1234537"/>
            <a:ext cx="7053775" cy="121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r>
              <a:rPr lang="de-DE" noProof="0" dirty="0"/>
              <a:t>Projektziel wurde mit Umsetzung der User Storys erreicht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CC4810A-BADA-A0AA-143E-B23A286DC689}"/>
              </a:ext>
            </a:extLst>
          </p:cNvPr>
          <p:cNvSpPr txBox="1"/>
          <p:nvPr/>
        </p:nvSpPr>
        <p:spPr>
          <a:xfrm>
            <a:off x="7405687" y="1747106"/>
            <a:ext cx="4343399" cy="4425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r>
              <a:rPr lang="de-DE" sz="2100" b="1" noProof="0" dirty="0"/>
              <a:t>Docker: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r>
              <a:rPr lang="de-DE" sz="1700" dirty="0"/>
              <a:t>Aufsetzen eines Containers</a:t>
            </a:r>
            <a:endParaRPr lang="de-DE" sz="1700" noProof="0" dirty="0"/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endParaRPr lang="de-DE" sz="2100" b="1" dirty="0"/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r>
              <a:rPr lang="de-DE" sz="2100" b="1" noProof="0" dirty="0" err="1"/>
              <a:t>Nginx</a:t>
            </a:r>
            <a:r>
              <a:rPr lang="de-DE" sz="2100" b="1" noProof="0" dirty="0"/>
              <a:t>: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r>
              <a:rPr lang="de-DE" sz="1600" noProof="0" dirty="0" err="1"/>
              <a:t>Konfig</a:t>
            </a:r>
            <a:r>
              <a:rPr lang="de-DE" sz="1600" noProof="0" dirty="0"/>
              <a:t> und Umsetzen von Server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endParaRPr lang="de-DE" sz="1600" dirty="0"/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r>
              <a:rPr lang="de-DE" sz="1600" noProof="0" dirty="0"/>
              <a:t>Frontend / HTML / JavaScript / CSS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endParaRPr lang="de-DE" sz="1600" noProof="0" dirty="0"/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r>
              <a:rPr lang="de-DE" sz="2400" b="1" dirty="0"/>
              <a:t>Team: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r>
              <a:rPr lang="de-DE" sz="1600" noProof="0" dirty="0"/>
              <a:t>Absprache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r>
              <a:rPr lang="de-DE" sz="1600" noProof="0"/>
              <a:t>Aufsetzen einer </a:t>
            </a:r>
            <a:r>
              <a:rPr lang="de-DE" sz="1600" noProof="0" dirty="0"/>
              <a:t>Datenbank.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endParaRPr lang="de-DE" sz="2100" b="1" noProof="0" dirty="0"/>
          </a:p>
        </p:txBody>
      </p:sp>
    </p:spTree>
    <p:extLst>
      <p:ext uri="{BB962C8B-B14F-4D97-AF65-F5344CB8AC3E}">
        <p14:creationId xmlns:p14="http://schemas.microsoft.com/office/powerpoint/2010/main" val="1479230583"/>
      </p:ext>
    </p:extLst>
  </p:cSld>
  <p:clrMapOvr>
    <a:masterClrMapping/>
  </p:clrMapOvr>
</p:sld>
</file>

<file path=ppt/theme/theme1.xml><?xml version="1.0" encoding="utf-8"?>
<a:theme xmlns:a="http://schemas.openxmlformats.org/drawingml/2006/main" name="Segment">
  <a:themeElements>
    <a:clrScheme name="Graustuf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Segmen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gmen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Override1.xml><?xml version="1.0" encoding="utf-8"?>
<a:themeOverride xmlns:a="http://schemas.openxmlformats.org/drawingml/2006/main">
  <a:clrScheme name="Graustufe">
    <a:dk1>
      <a:sysClr val="windowText" lastClr="000000"/>
    </a:dk1>
    <a:lt1>
      <a:sysClr val="window" lastClr="FFFFFF"/>
    </a:lt1>
    <a:dk2>
      <a:srgbClr val="000000"/>
    </a:dk2>
    <a:lt2>
      <a:srgbClr val="F8F8F8"/>
    </a:lt2>
    <a:accent1>
      <a:srgbClr val="DDDDDD"/>
    </a:accent1>
    <a:accent2>
      <a:srgbClr val="B2B2B2"/>
    </a:accent2>
    <a:accent3>
      <a:srgbClr val="969696"/>
    </a:accent3>
    <a:accent4>
      <a:srgbClr val="808080"/>
    </a:accent4>
    <a:accent5>
      <a:srgbClr val="5F5F5F"/>
    </a:accent5>
    <a:accent6>
      <a:srgbClr val="4D4D4D"/>
    </a:accent6>
    <a:hlink>
      <a:srgbClr val="5F5F5F"/>
    </a:hlink>
    <a:folHlink>
      <a:srgbClr val="919191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249</Words>
  <Application>Microsoft Office PowerPoint</Application>
  <PresentationFormat>Breitbild</PresentationFormat>
  <Paragraphs>63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Arial</vt:lpstr>
      <vt:lpstr>Century Gothic</vt:lpstr>
      <vt:lpstr>Wingdings 3</vt:lpstr>
      <vt:lpstr>Segment</vt:lpstr>
      <vt:lpstr>PowerPoint-Präsentation</vt:lpstr>
      <vt:lpstr>PowerPoint-Präsentation</vt:lpstr>
      <vt:lpstr>User-Storys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Maximilian Mayer</dc:creator>
  <cp:lastModifiedBy>Daniel Hartl</cp:lastModifiedBy>
  <cp:revision>22</cp:revision>
  <dcterms:created xsi:type="dcterms:W3CDTF">2025-10-03T06:37:48Z</dcterms:created>
  <dcterms:modified xsi:type="dcterms:W3CDTF">2026-01-12T18:38:04Z</dcterms:modified>
</cp:coreProperties>
</file>